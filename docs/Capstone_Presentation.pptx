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607a475ff74eb9" /><Relationship Type="http://schemas.openxmlformats.org/officeDocument/2006/relationships/extended-properties" Target="/docProps/app.xml" Id="R2c729ef206954cda" /><Relationship Type="http://schemas.openxmlformats.org/officeDocument/2006/relationships/officeDocument" Target="/ppt/presentation.xml" Id="R90421e5ef1e04c96" /></Relationships>
</file>

<file path=ppt/presentation.xml><?xml version="1.0" encoding="utf-8"?>
<p:presentation xmlns:p="http://schemas.openxmlformats.org/presentationml/2006/main">
  <p:sldMasterIdLst>
    <p:sldMasterId xmlns:r="http://schemas.openxmlformats.org/officeDocument/2006/relationships" id="2147483648" r:id="R86849bfd647a4a5e"/>
  </p:sldMasterIdLst>
  <p:notesMasterIdLst>
    <p:notesMasterId xmlns:r="http://schemas.openxmlformats.org/officeDocument/2006/relationships" r:id="Ra7b3a6a0b5a847df"/>
  </p:notesMasterIdLst>
  <p:sldIdLst>
    <p:sldId xmlns:r="http://schemas.openxmlformats.org/officeDocument/2006/relationships" id="256" r:id="Rf254c10f850641ff"/>
    <p:sldId xmlns:r="http://schemas.openxmlformats.org/officeDocument/2006/relationships" id="257" r:id="Rcc979e59f86c4460"/>
    <p:sldId xmlns:r="http://schemas.openxmlformats.org/officeDocument/2006/relationships" id="258" r:id="R7b30217bc70649e1"/>
    <p:sldId xmlns:r="http://schemas.openxmlformats.org/officeDocument/2006/relationships" id="259" r:id="R953b589a86a140e1"/>
    <p:sldId xmlns:r="http://schemas.openxmlformats.org/officeDocument/2006/relationships" id="260" r:id="Rf966edfdf2324b43"/>
    <p:sldId xmlns:r="http://schemas.openxmlformats.org/officeDocument/2006/relationships" id="261" r:id="R87a80e39c4e64e74"/>
    <p:sldId xmlns:r="http://schemas.openxmlformats.org/officeDocument/2006/relationships" id="262" r:id="R70acab2f726b4fc2"/>
    <p:sldId xmlns:r="http://schemas.openxmlformats.org/officeDocument/2006/relationships" id="263" r:id="Rdf7a00e4179c48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8a5b8e49b74150" /><Relationship Type="http://schemas.openxmlformats.org/officeDocument/2006/relationships/slideMaster" Target="/ppt/slideMasters/slideMaster1.xml" Id="R86849bfd647a4a5e" /><Relationship Type="http://schemas.openxmlformats.org/officeDocument/2006/relationships/notesMaster" Target="/ppt/notesMasters/notesMaster1.xml" Id="Ra7b3a6a0b5a847df" /><Relationship Type="http://schemas.openxmlformats.org/officeDocument/2006/relationships/presProps" Target="/ppt/presProps.xml" Id="R5e194eabcc094778" /><Relationship Type="http://schemas.openxmlformats.org/officeDocument/2006/relationships/tableStyles" Target="/ppt/tableStyles.xml" Id="R3739eb173dd84eb2" /><Relationship Type="http://schemas.openxmlformats.org/officeDocument/2006/relationships/slide" Target="/ppt/slides/slide1.xml" Id="Rf254c10f850641ff" /><Relationship Type="http://schemas.openxmlformats.org/officeDocument/2006/relationships/slide" Target="/ppt/slides/slide2.xml" Id="Rcc979e59f86c4460" /><Relationship Type="http://schemas.openxmlformats.org/officeDocument/2006/relationships/slide" Target="/ppt/slides/slide3.xml" Id="R7b30217bc70649e1" /><Relationship Type="http://schemas.openxmlformats.org/officeDocument/2006/relationships/slide" Target="/ppt/slides/slide4.xml" Id="R953b589a86a140e1" /><Relationship Type="http://schemas.openxmlformats.org/officeDocument/2006/relationships/slide" Target="/ppt/slides/slide5.xml" Id="Rf966edfdf2324b43" /><Relationship Type="http://schemas.openxmlformats.org/officeDocument/2006/relationships/slide" Target="/ppt/slides/slide6.xml" Id="R87a80e39c4e64e74" /><Relationship Type="http://schemas.openxmlformats.org/officeDocument/2006/relationships/slide" Target="/ppt/slides/slide7.xml" Id="R70acab2f726b4fc2" /><Relationship Type="http://schemas.openxmlformats.org/officeDocument/2006/relationships/slide" Target="/ppt/slides/slide8.xml" Id="Rdf7a00e4179c48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032b9896c44b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e69cc8994c4ab8" /><Relationship Type="http://schemas.openxmlformats.org/officeDocument/2006/relationships/notesMaster" Target="/ppt/notesMasters/notesMaster1.xml" Id="R8980f986ca144f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1b82b532b94375" /><Relationship Type="http://schemas.openxmlformats.org/officeDocument/2006/relationships/notesMaster" Target="/ppt/notesMasters/notesMaster1.xml" Id="R449fdc78ec884a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43a90aeaec4eba" /><Relationship Type="http://schemas.openxmlformats.org/officeDocument/2006/relationships/notesMaster" Target="/ppt/notesMasters/notesMaster1.xml" Id="R3ca3dbd922404d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500dc64b79408e" /><Relationship Type="http://schemas.openxmlformats.org/officeDocument/2006/relationships/notesMaster" Target="/ppt/notesMasters/notesMaster1.xml" Id="R0525bbeb56dd49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d7042611424865" /><Relationship Type="http://schemas.openxmlformats.org/officeDocument/2006/relationships/notesMaster" Target="/ppt/notesMasters/notesMaster1.xml" Id="R0d38ee7db2b04b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9b7d9527584f29" /><Relationship Type="http://schemas.openxmlformats.org/officeDocument/2006/relationships/notesMaster" Target="/ppt/notesMasters/notesMaster1.xml" Id="Re6b37e2d1e6c4a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3368421663411a" /><Relationship Type="http://schemas.openxmlformats.org/officeDocument/2006/relationships/notesMaster" Target="/ppt/notesMasters/notesMaster1.xml" Id="R96681ef09d7443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4e38c220bb47cc" /><Relationship Type="http://schemas.openxmlformats.org/officeDocument/2006/relationships/notesMaster" Target="/ppt/notesMasters/notesMaster1.xml" Id="R64934b5e6bf84a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supports agents by classifying messages, retrieving similar resolved cases and drafting from the fictional DemoMart knowledge base. The presentation uses measured examples from the saved pipeline outputs. All explanations and labels are English, while customer examples and replies can be Arabic. Source: https://github.com/SDAIAAcademy/applied-nlp/tree/main/labs/capstone.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uses 27 intents. Four Arabic training utterances and two validation utterances per intent supplement the English training data. Validation selects regularization and rejection thresholds. All classifier comparisons use the same 513 held-out messages. Canonical template groups do not overlap. Semantic similarity nevertheless flags 312 test messages, mainly templated English messages, so filtered metrics are supplied.</a:t>
            </a:r>
          </a:p>
          <a:p xmlns:a="http://schemas.openxmlformats.org/drawingml/2006/main">
            <a:r>
              <a:t>Evidence: eval/classification_metrics.csv; eval/retrieval_metrics.csv; eval/error_analysis.csv; eval/sample_outputs_no_llm.json; eval/behavior_tests.json; eval/scope_smoke.json. Course: https://sdaiaacademy.github.io/applied-nlp/ and https://github.com/SDAIAAcademy/applied-nlp/tree/main/labs/capstone. Reference measurements: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Normalized multilingual e5 vectors represent the query and passages. A frozen encoder plus trained LR head predicts intent. The category map and priority rules do not train separate models. FAISS searches historical cases and knowledge-base chunks. The default path returns original source text or an authored Arabic summary. Optional Qwen selects evidence sentences through a schema and a retry; poor detail selection in the smoke review keeps it out of the default path.</a:t>
            </a:r>
          </a:p>
          <a:p xmlns:a="http://schemas.openxmlformats.org/drawingml/2006/main">
            <a:r>
              <a:t>Evidence: eval/classification_metrics.csv; eval/retrieval_metrics.csv; eval/error_analysis.csv; eval/sample_outputs_no_llm.json; eval/behavior_tests.json; eval/scope_smoke.json. Course: https://sdaiaacademy.github.io/applied-nlp/ and https://github.com/SDAIAAcademy/applied-nlp/tree/main/labs/capstone. Reference measurements: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numbers are raw macro-F1 before confidence abstention. Arabic performance increases from 0.4748 to 0.7249 between the English-only and bilingual e5 systems. This is a whole-system comparison: selected C also changes from 5 to 50. Final Arabic acceptance coverage is 29.6%, and accepted accuracy is 100% on only 32 messages. The warm p95 classifier measurement includes representation but excludes loading, retrieval and reply drafting.</a:t>
            </a:r>
          </a:p>
          <a:p xmlns:a="http://schemas.openxmlformats.org/drawingml/2006/main">
            <a:r>
              <a:t>Evidence: eval/classification_metrics.csv; eval/retrieval_metrics.csv; eval/error_analysis.csv; eval/sample_outputs_no_llm.json; eval/behavior_tests.json; eval/scope_smoke.json. Course: https://sdaiaacademy.github.io/applied-nlp/ and https://github.com/SDAIAAcademy/applied-nlp/tree/main/labs/capstone. Reference measurements: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Nine behavior and integrity checks passed after the interface language update. They cover split disjointness, intent/priority/sources, identifier invariance, Arabic behavior, one unrelated scope input, instruction-like content, invalid input, evidence validation and masking. The final classifier has 32 raw-label mistakes. Twelve were reviewed with interpreted causes: six intent boundaries, three dialect coverage, one typo, one ambiguous message and one transliteration. The unrelated-input smoke suite rejected five of six cases and exposes a high-confidence novelty failure.</a:t>
            </a:r>
          </a:p>
          <a:p xmlns:a="http://schemas.openxmlformats.org/drawingml/2006/main">
            <a:r>
              <a:t>Evidence: eval/classification_metrics.csv; eval/retrieval_metrics.csv; eval/error_analysis.csv; eval/sample_outputs_no_llm.json; eval/behavior_tests.json; eval/scope_smoke.json. Course: https://sdaiaacademy.github.io/applied-nlp/ and https://github.com/SDAIAAcademy/applied-nlp/tree/main/labs/capstone. Reference measurements: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default-path output, not a simulated example. The exact confidence is 0.97889. Priority is medium, category is ACCOUNT, and the source is account#deleting-your-account. The historical case IDs are EN-018417, EN-010492 and EN-010311. The slide displays an exact excerpt from the full saved reply. The full source text, three cases and timing fields are in eval/sample_outputs_no_llm.json.</a:t>
            </a:r>
          </a:p>
          <a:p xmlns:a="http://schemas.openxmlformats.org/drawingml/2006/main">
            <a:r>
              <a:t>Evidence: eval/classification_metrics.csv; eval/retrieval_metrics.csv; eval/error_analysis.csv; eval/sample_outputs_no_llm.json; eval/behavior_tests.json; eval/scope_smoke.json. Course: https://sdaiaacademy.github.io/applied-nlp/ and https://github.com/SDAIAAcademy/applied-nlp/tree/main/labs/capstone. Reference measurements: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customer input and reply are Arabic data in eval/sample_outputs_no_llm.json. The slide uses English translations for display, and they are not replacement inference inputs. The actual Arabic output predicts delete_account with confidence 0.84577 and drafts a source-linked Arabic summary. It retrieves historical cases EN-009841, EN-010545 and EN-010370 and cites account#deleting-your-account. The translated excerpt represents the first two sentences of the saved Arabic reply.</a:t>
            </a:r>
          </a:p>
          <a:p xmlns:a="http://schemas.openxmlformats.org/drawingml/2006/main">
            <a:r>
              <a:t>Evidence: eval/classification_metrics.csv; eval/retrieval_metrics.csv; eval/error_analysis.csv; eval/sample_outputs_no_llm.json; eval/behavior_tests.json; eval/scope_smoke.json. Course: https://sdaiaacademy.github.io/applied-nlp/ and https://github.com/SDAIAAcademy/applied-nlp/tree/main/labs/capstone. Reference measurements: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stock-price question is rejected with confidence 0.16778. The Arabic duplicate-charge message is also rejected at confidence 0.14157 because the Arabic threshold is 0.67. The table describes observed behavior, not a universal guarantee. Presentation format: 10-minute talk and live demo plus 5-minute Q&amp;A. The capstone permits a written evidence-based justification instead of encoder/LoRA training. This project retains frozen e5 features and trains the LR head. Collecting reviewed Arabic/dialect data and evaluating on a new independent test are next steps.</a:t>
            </a:r>
          </a:p>
          <a:p xmlns:a="http://schemas.openxmlformats.org/drawingml/2006/main">
            <a:r>
              <a:t>Evidence: eval/classification_metrics.csv; eval/retrieval_metrics.csv; eval/error_analysis.csv; eval/sample_outputs_no_llm.json; eval/behavior_tests.json; eval/scope_smoke.json. Course: https://sdaiaacademy.github.io/applied-nlp/ and https://github.com/SDAIAAcademy/applied-nlp/tree/main/labs/capstone. Reference measurements: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d4181578ce4d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f515718f1543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4e409a7f0f40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f8541daad046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27b4a8e00048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48aa85e6514a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C4BC66-6D50-422B-823C-F338008A18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931E39-2D64-4412-AD2C-71355F33C4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3DD88E-8817-48A2-8A1F-C9D8CFEE844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D1AB1B-D42B-492D-A61F-0C79D938F5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A824AB-21EB-4BAB-A3CB-FA4FCB0C77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D890FD-C98E-4889-A633-7BC6B0F53E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3C6E67-2EEF-413D-9031-544F563058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979CD3-F0CA-458C-B7D1-475A9B2613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0DB9E1-5A40-4FA2-807C-E43AB105E9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56DE2C-E592-4340-8CCB-9EEA7EA2F9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48cafcd275426d" /><Relationship Type="http://schemas.openxmlformats.org/officeDocument/2006/relationships/slideLayout" Target="/ppt/slideLayouts/slideLayout1.xml" Id="R226ac5a2ecbd4b19" /><Relationship Type="http://schemas.openxmlformats.org/officeDocument/2006/relationships/slideLayout" Target="/ppt/slideLayouts/slideLayout2.xml" Id="R2b33ad7a791d4b48" /><Relationship Type="http://schemas.openxmlformats.org/officeDocument/2006/relationships/slideLayout" Target="/ppt/slideLayouts/slideLayout3.xml" Id="R01ef23136c4d44a4" /><Relationship Type="http://schemas.openxmlformats.org/officeDocument/2006/relationships/slideLayout" Target="/ppt/slideLayouts/slideLayout4.xml" Id="R190d954d04d24bc2" /><Relationship Type="http://schemas.openxmlformats.org/officeDocument/2006/relationships/slideLayout" Target="/ppt/slideLayouts/slideLayout5.xml" Id="R7f014fcc6c9a403a" /><Relationship Type="http://schemas.openxmlformats.org/officeDocument/2006/relationships/slideLayout" Target="/ppt/slideLayouts/slideLayout6.xml" Id="Rf93787160cb643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6ac5a2ecbd4b19"/>
    <p:sldLayoutId xmlns:r="http://schemas.openxmlformats.org/officeDocument/2006/relationships" id="2147483650" r:id="R2b33ad7a791d4b48"/>
    <p:sldLayoutId xmlns:r="http://schemas.openxmlformats.org/officeDocument/2006/relationships" id="2147483651" r:id="R01ef23136c4d44a4"/>
    <p:sldLayoutId xmlns:r="http://schemas.openxmlformats.org/officeDocument/2006/relationships" id="2147483652" r:id="R190d954d04d24bc2"/>
    <p:sldLayoutId xmlns:r="http://schemas.openxmlformats.org/officeDocument/2006/relationships" id="2147483653" r:id="R7f014fcc6c9a403a"/>
    <p:sldLayoutId xmlns:r="http://schemas.openxmlformats.org/officeDocument/2006/relationships" id="2147483654" r:id="Rf93787160cb643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6b8f8ee2d04e58" /><Relationship Type="http://schemas.openxmlformats.org/officeDocument/2006/relationships/notesSlide" Target="/ppt/notesSlides/notesSlide1.xml" Id="Rd306694a5db540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b8819bd4604b72" /><Relationship Type="http://schemas.openxmlformats.org/officeDocument/2006/relationships/notesSlide" Target="/ppt/notesSlides/notesSlide2.xml" Id="Rfe371ee423124b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a09e2a03944875" /><Relationship Type="http://schemas.openxmlformats.org/officeDocument/2006/relationships/notesSlide" Target="/ppt/notesSlides/notesSlide3.xml" Id="R6e6d42a35b2545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017faee1334181" /><Relationship Type="http://schemas.openxmlformats.org/officeDocument/2006/relationships/notesSlide" Target="/ppt/notesSlides/notesSlide4.xml" Id="R1e311d05144644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0657ef213e4eb1" /><Relationship Type="http://schemas.openxmlformats.org/officeDocument/2006/relationships/notesSlide" Target="/ppt/notesSlides/notesSlide5.xml" Id="R5a6f804a9bab43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61e30d43ef412c" /><Relationship Type="http://schemas.openxmlformats.org/officeDocument/2006/relationships/notesSlide" Target="/ppt/notesSlides/notesSlide6.xml" Id="Rcd8c814c2abd43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fe039fad394c0c" /><Relationship Type="http://schemas.openxmlformats.org/officeDocument/2006/relationships/notesSlide" Target="/ppt/notesSlides/notesSlide7.xml" Id="Rb5b055cc0cd846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a03e8237f2b48c9" /><Relationship Type="http://schemas.openxmlformats.org/officeDocument/2006/relationships/notesSlide" Target="/ppt/notesSlides/notesSlide8.xml" Id="R9670289dc192457c" /></Relationships>
</file>

<file path=ppt/slides/slide1.xml><?xml version="1.0" encoding="utf-8"?>
<p:sld xmlns:p="http://schemas.openxmlformats.org/presentationml/2006/main">
  <p:cSld>
    <p:bg>
      <p:bgPr>
        <a:solidFill xmlns:a="http://schemas.openxmlformats.org/drawingml/2006/main">
          <a:srgbClr val="13253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D4C848-4DCB-4FED-A032-A3A6A4BAB206}"/>
              </a:ext>
            </a:extLst>
          </p:cNvPr>
          <p:cNvSpPr>
            <a:spLocks xmlns:a="http://schemas.openxmlformats.org/drawingml/2006/main" noGrp="1"/>
          </p:cNvSpPr>
          <p:nvPr/>
        </p:nvSpPr>
        <p:spPr>
          <a:xfrm xmlns:a="http://schemas.openxmlformats.org/drawingml/2006/main">
            <a:off x="685800" y="1285875"/>
            <a:ext cx="10668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400" b="1">
                <a:solidFill>
                  <a:srgbClr val="FFFFFF"/>
                </a:solidFill>
                <a:latin typeface="DejaVu Sans"/>
                <a:ea typeface="DejaVu Sans"/>
                <a:cs typeface="DejaVu Sans"/>
              </a:defRPr>
            </a:defPPr>
          </a:lstStyle>
          <a:p xmlns:a="http://schemas.openxmlformats.org/drawingml/2006/main">
            <a:pPr algn="l">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Intelligent Support</a:t>
            </a:r>
          </a:p>
          <a:p xmlns:a="http://schemas.openxmlformats.org/drawingml/2006/main">
            <a:pPr algn="l">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Ticket Assistant</a:t>
            </a:r>
          </a:p>
        </p:txBody>
      </p:sp>
      <p:sp>
        <p:nvSpPr>
          <p:cNvPr id="2" name="">
            <a:extLst xmlns:a="http://schemas.openxmlformats.org/drawingml/2006/main">
              <a:ext uri="{FF2B5EF4-FFF2-40B4-BE49-F238E27FC236}">
                <a16:creationId xmlns:a16="http://schemas.microsoft.com/office/drawing/2014/main" id="{B9FB703B-A2C2-4908-BF48-DFFC128CEFEC}"/>
              </a:ext>
            </a:extLst>
          </p:cNvPr>
          <p:cNvSpPr>
            <a:spLocks xmlns:a="http://schemas.openxmlformats.org/drawingml/2006/main" noGrp="1"/>
          </p:cNvSpPr>
          <p:nvPr/>
        </p:nvSpPr>
        <p:spPr>
          <a:xfrm xmlns:a="http://schemas.openxmlformats.org/drawingml/2006/main">
            <a:off x="685800" y="3571875"/>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D9E5F2"/>
                </a:solidFill>
                <a:latin typeface="DejaVu Sans"/>
                <a:ea typeface="DejaVu Sans"/>
                <a:cs typeface="DejaVu Sans"/>
              </a:defRPr>
            </a:defPPr>
          </a:lstStyle>
          <a:p xmlns:a="http://schemas.openxmlformats.org/drawingml/2006/main">
            <a:pPr algn="l">
              <a:defRPr sz="2400" b="0">
                <a:solidFill>
                  <a:srgbClr val="D9E5F2"/>
                </a:solidFill>
                <a:latin typeface="DejaVu Sans"/>
                <a:ea typeface="DejaVu Sans"/>
                <a:cs typeface="DejaVu Sans"/>
              </a:defRPr>
            </a:pPr>
            <a:r>
              <a:rPr sz="2400" b="0">
                <a:solidFill>
                  <a:srgbClr val="D9E5F2"/>
                </a:solidFill>
                <a:latin typeface="DejaVu Sans"/>
                <a:ea typeface="DejaVu Sans"/>
                <a:cs typeface="DejaVu Sans"/>
              </a:rPr>
              <a:t>Intent decisions and source-grounded drafts</a:t>
            </a:r>
          </a:p>
          <a:p xmlns:a="http://schemas.openxmlformats.org/drawingml/2006/main">
            <a:pPr algn="l">
              <a:defRPr sz="2400" b="0">
                <a:solidFill>
                  <a:srgbClr val="D9E5F2"/>
                </a:solidFill>
                <a:latin typeface="DejaVu Sans"/>
                <a:ea typeface="DejaVu Sans"/>
                <a:cs typeface="DejaVu Sans"/>
              </a:defRPr>
            </a:pPr>
            <a:r>
              <a:rPr sz="2400" b="0">
                <a:solidFill>
                  <a:srgbClr val="D9E5F2"/>
                </a:solidFill>
                <a:latin typeface="DejaVu Sans"/>
                <a:ea typeface="DejaVu Sans"/>
                <a:cs typeface="DejaVu Sans"/>
              </a:rPr>
              <a:t>for English and Arabic customer messages</a:t>
            </a:r>
          </a:p>
        </p:txBody>
      </p:sp>
      <p:sp>
        <p:nvSpPr>
          <p:cNvPr id="3" name="">
            <a:extLst xmlns:a="http://schemas.openxmlformats.org/drawingml/2006/main">
              <a:ext uri="{FF2B5EF4-FFF2-40B4-BE49-F238E27FC236}">
                <a16:creationId xmlns:a16="http://schemas.microsoft.com/office/drawing/2014/main" id="{2BD6BA93-9ECB-46A3-99C8-6C4792B512AC}"/>
              </a:ext>
            </a:extLst>
          </p:cNvPr>
          <p:cNvSpPr>
            <a:spLocks xmlns:a="http://schemas.openxmlformats.org/drawingml/2006/main" noGrp="1"/>
          </p:cNvSpPr>
          <p:nvPr/>
        </p:nvSpPr>
        <p:spPr>
          <a:xfrm xmlns:a="http://schemas.openxmlformats.org/drawingml/2006/main">
            <a:off x="685800" y="5429250"/>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DejaVu Sans"/>
                <a:ea typeface="DejaVu Sans"/>
                <a:cs typeface="DejaVu Sans"/>
              </a:defRPr>
            </a:defPPr>
          </a:lstStyle>
          <a:p xmlns:a="http://schemas.openxmlformats.org/drawingml/2006/main">
            <a:pPr algn="l">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Evaluation, bilingual samples and observed failure cases</a:t>
            </a:r>
          </a:p>
        </p:txBody>
      </p:sp>
    </p:spTree>
    <p:extLst>
      <p:ext uri="{BB962C8B-B14F-4D97-AF65-F5344CB8AC3E}">
        <p14:creationId xmlns:p14="http://schemas.microsoft.com/office/powerpoint/2010/main" val="1276542053"/>
      </p:ext>
    </p:extLst>
  </p:cSld>
</p:sld>
</file>

<file path=ppt/slides/slide2.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2FF780-1717-46BE-90CF-94EF6E8B5F5C}"/>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283D"/>
                </a:solidFill>
                <a:latin typeface="DejaVu Sans"/>
                <a:ea typeface="DejaVu Sans"/>
                <a:cs typeface="DejaVu Sans"/>
              </a:defRPr>
            </a:defPPr>
          </a:lstStyle>
          <a:p xmlns:a="http://schemas.openxmlformats.org/drawingml/2006/main">
            <a:pPr algn="l">
              <a:defRPr sz="3300" b="1">
                <a:solidFill>
                  <a:srgbClr val="15283D"/>
                </a:solidFill>
                <a:latin typeface="DejaVu Sans"/>
                <a:ea typeface="DejaVu Sans"/>
                <a:cs typeface="DejaVu Sans"/>
              </a:defRPr>
            </a:pPr>
            <a:r>
              <a:rPr sz="3300" b="1">
                <a:solidFill>
                  <a:srgbClr val="15283D"/>
                </a:solidFill>
                <a:latin typeface="DejaVu Sans"/>
                <a:ea typeface="DejaVu Sans"/>
                <a:cs typeface="DejaVu Sans"/>
              </a:rPr>
              <a:t>Data and held-out methodology</a:t>
            </a:r>
          </a:p>
        </p:txBody>
      </p:sp>
      <p:graphicFrame>
        <p:nvGraphicFramePr>
          <p:cNvPr id="2" name="">
            <a:extLst xmlns:a="http://schemas.openxmlformats.org/drawingml/2006/main">
              <a:ext uri="{FF2B5EF4-FFF2-40B4-BE49-F238E27FC236}">
                <a16:creationId xmlns:a16="http://schemas.microsoft.com/office/drawing/2014/main" id="{99616A45-86AB-400D-ACAD-5B889C0E46AE}"/>
              </a:ext>
            </a:extLst>
          </p:cNvPr>
          <p:cNvGraphicFramePr/>
          <p:nvPr/>
        </p:nvGraphicFramePr>
        <p:xfrm>
          <a:off xmlns:a="http://schemas.openxmlformats.org/drawingml/2006/main" x="685800" y="1762125"/>
          <a:ext xmlns:a="http://schemas.openxmlformats.org/drawingml/2006/main" cx="10287000" cy="3619500"/>
        </p:xfrm>
        <a:graphic xmlns:a="http://schemas.openxmlformats.org/drawingml/2006/main">
          <a:graphicData uri="http://schemas.openxmlformats.org/drawingml/2006/table">
            <a:tbl>
              <a:tblPr/>
              <a:tblGrid>
                <a:gridCol w="2667000"/>
                <a:gridCol w="1524000"/>
                <a:gridCol w="1524000"/>
                <a:gridCol w="4572000"/>
              </a:tblGrid>
              <a:tr h="723900">
                <a:tc>
                  <a:txBody>
                    <a:bodyPr/>
                    <a:lstStyle/>
                    <a:p>
                      <a:r>
                        <a:rPr sz="1800" b="1">
                          <a:solidFill>
                            <a:srgbClr val="FFFFFF"/>
                          </a:solidFill>
                          <a:latin typeface="DejaVu Sans"/>
                          <a:ea typeface="DejaVu Sans"/>
                          <a:cs typeface="DejaVu Sans"/>
                        </a:rPr>
                        <a:t>Partition</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English</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Arabic</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Use</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r>
              <a:tr h="723900">
                <a:tc>
                  <a:txBody>
                    <a:bodyPr/>
                    <a:lstStyle/>
                    <a:p>
                      <a:r>
                        <a:rPr sz="1800" b="0">
                          <a:solidFill>
                            <a:srgbClr val="15283D"/>
                          </a:solidFill>
                          <a:latin typeface="DejaVu Sans"/>
                          <a:ea typeface="DejaVu Sans"/>
                          <a:cs typeface="DejaVu Sans"/>
                        </a:rPr>
                        <a:t>Train</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2,700</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108</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Fit LR heads</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723900">
                <a:tc>
                  <a:txBody>
                    <a:bodyPr/>
                    <a:lstStyle/>
                    <a:p>
                      <a:r>
                        <a:rPr sz="1800" b="0">
                          <a:solidFill>
                            <a:srgbClr val="15283D"/>
                          </a:solidFill>
                          <a:latin typeface="DejaVu Sans"/>
                          <a:ea typeface="DejaVu Sans"/>
                          <a:cs typeface="DejaVu Sans"/>
                        </a:rPr>
                        <a:t>Validation</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405</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54</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Choose C and thresholds</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723900">
                <a:tc>
                  <a:txBody>
                    <a:bodyPr/>
                    <a:lstStyle/>
                    <a:p>
                      <a:r>
                        <a:rPr sz="1800" b="0">
                          <a:solidFill>
                            <a:srgbClr val="15283D"/>
                          </a:solidFill>
                          <a:latin typeface="DejaVu Sans"/>
                          <a:ea typeface="DejaVu Sans"/>
                          <a:cs typeface="DejaVu Sans"/>
                        </a:rPr>
                        <a:t>Held-out test</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405</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108</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Compare all classifiers</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723900">
                <a:tc>
                  <a:txBody>
                    <a:bodyPr/>
                    <a:lstStyle/>
                    <a:p>
                      <a:r>
                        <a:rPr sz="1800" b="0">
                          <a:solidFill>
                            <a:srgbClr val="15283D"/>
                          </a:solidFill>
                          <a:latin typeface="DejaVu Sans"/>
                          <a:ea typeface="DejaVu Sans"/>
                          <a:cs typeface="DejaVu Sans"/>
                        </a:rPr>
                        <a:t>History</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1,200</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0</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Retrieve resolved cases</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278F9EA-3208-4E0F-A121-96D065513E06}"/>
              </a:ext>
            </a:extLst>
          </p:cNvPr>
          <p:cNvSpPr>
            <a:spLocks xmlns:a="http://schemas.openxmlformats.org/drawingml/2006/main" noGrp="1"/>
          </p:cNvSpPr>
          <p:nvPr/>
        </p:nvSpPr>
        <p:spPr>
          <a:xfrm xmlns:a="http://schemas.openxmlformats.org/drawingml/2006/main">
            <a:off x="685800" y="609600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06174"/>
                </a:solidFill>
                <a:latin typeface="DejaVu Sans"/>
                <a:ea typeface="DejaVu Sans"/>
                <a:cs typeface="DejaVu Sans"/>
              </a:defRPr>
            </a:defPPr>
          </a:lstStyle>
          <a:p xmlns:a="http://schemas.openxmlformats.org/drawingml/2006/main">
            <a:pPr algn="l">
              <a:defRPr sz="1575" b="0">
                <a:solidFill>
                  <a:srgbClr val="506174"/>
                </a:solidFill>
                <a:latin typeface="DejaVu Sans"/>
                <a:ea typeface="DejaVu Sans"/>
                <a:cs typeface="DejaVu Sans"/>
              </a:defRPr>
            </a:pPr>
            <a:r>
              <a:rPr sz="1575" b="0">
                <a:solidFill>
                  <a:srgbClr val="506174"/>
                </a:solidFill>
                <a:latin typeface="DejaVu Sans"/>
                <a:ea typeface="DejaVu Sans"/>
                <a:cs typeface="DejaVu Sans"/>
              </a:rPr>
              <a:t>33 KB sections. 10 unrelated validation inputs. Source hashes and split audits included.</a:t>
            </a:r>
          </a:p>
        </p:txBody>
      </p:sp>
    </p:spTree>
    <p:extLst>
      <p:ext uri="{BB962C8B-B14F-4D97-AF65-F5344CB8AC3E}">
        <p14:creationId xmlns:p14="http://schemas.microsoft.com/office/powerpoint/2010/main" val="1445785897"/>
      </p:ext>
    </p:extLst>
  </p:cSld>
</p:sld>
</file>

<file path=ppt/slides/slide3.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7992C5-A896-4604-BB9C-0CAF22E5184A}"/>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283D"/>
                </a:solidFill>
                <a:latin typeface="DejaVu Sans"/>
                <a:ea typeface="DejaVu Sans"/>
                <a:cs typeface="DejaVu Sans"/>
              </a:defRPr>
            </a:defPPr>
          </a:lstStyle>
          <a:p xmlns:a="http://schemas.openxmlformats.org/drawingml/2006/main">
            <a:pPr algn="l">
              <a:defRPr sz="3300" b="1">
                <a:solidFill>
                  <a:srgbClr val="15283D"/>
                </a:solidFill>
                <a:latin typeface="DejaVu Sans"/>
                <a:ea typeface="DejaVu Sans"/>
                <a:cs typeface="DejaVu Sans"/>
              </a:defRPr>
            </a:pPr>
            <a:r>
              <a:rPr sz="3300" b="1">
                <a:solidFill>
                  <a:srgbClr val="15283D"/>
                </a:solidFill>
                <a:latin typeface="DejaVu Sans"/>
                <a:ea typeface="DejaVu Sans"/>
                <a:cs typeface="DejaVu Sans"/>
              </a:rPr>
              <a:t>Pipeline and model selection</a:t>
            </a:r>
          </a:p>
        </p:txBody>
      </p:sp>
      <p:graphicFrame>
        <p:nvGraphicFramePr>
          <p:cNvPr id="2" name="">
            <a:extLst xmlns:a="http://schemas.openxmlformats.org/drawingml/2006/main">
              <a:ext uri="{FF2B5EF4-FFF2-40B4-BE49-F238E27FC236}">
                <a16:creationId xmlns:a16="http://schemas.microsoft.com/office/drawing/2014/main" id="{5A25C0EB-C53B-45DD-9E83-A7CB64FE18F1}"/>
              </a:ext>
            </a:extLst>
          </p:cNvPr>
          <p:cNvGraphicFramePr/>
          <p:nvPr/>
        </p:nvGraphicFramePr>
        <p:xfrm>
          <a:off xmlns:a="http://schemas.openxmlformats.org/drawingml/2006/main" x="685800" y="1762125"/>
          <a:ext xmlns:a="http://schemas.openxmlformats.org/drawingml/2006/main" cx="10287000" cy="3333750"/>
        </p:xfrm>
        <a:graphic xmlns:a="http://schemas.openxmlformats.org/drawingml/2006/main">
          <a:graphicData uri="http://schemas.openxmlformats.org/drawingml/2006/table">
            <a:tbl>
              <a:tblPr/>
              <a:tblGrid>
                <a:gridCol w="3476625"/>
                <a:gridCol w="6810375"/>
              </a:tblGrid>
              <a:tr h="666750">
                <a:tc>
                  <a:txBody>
                    <a:bodyPr/>
                    <a:lstStyle/>
                    <a:p>
                      <a:r>
                        <a:rPr sz="1800" b="1">
                          <a:solidFill>
                            <a:srgbClr val="FFFFFF"/>
                          </a:solidFill>
                          <a:latin typeface="DejaVu Sans"/>
                          <a:ea typeface="DejaVu Sans"/>
                          <a:cs typeface="DejaVu Sans"/>
                        </a:rPr>
                        <a:t>Stage</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Output</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r>
              <a:tr h="666750">
                <a:tc>
                  <a:txBody>
                    <a:bodyPr/>
                    <a:lstStyle/>
                    <a:p>
                      <a:r>
                        <a:rPr sz="1800" b="0">
                          <a:solidFill>
                            <a:srgbClr val="15283D"/>
                          </a:solidFill>
                          <a:latin typeface="DejaVu Sans"/>
                          <a:ea typeface="DejaVu Sans"/>
                          <a:cs typeface="DejaVu Sans"/>
                        </a:rPr>
                        <a:t>Tokenizer + multilingual e5</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Normalized 384-dimensional vector</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666750">
                <a:tc>
                  <a:txBody>
                    <a:bodyPr/>
                    <a:lstStyle/>
                    <a:p>
                      <a:r>
                        <a:rPr sz="1800" b="0">
                          <a:solidFill>
                            <a:srgbClr val="15283D"/>
                          </a:solidFill>
                          <a:latin typeface="DejaVu Sans"/>
                          <a:ea typeface="DejaVu Sans"/>
                          <a:cs typeface="DejaVu Sans"/>
                        </a:rPr>
                        <a:t>LR + confidence threshold</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Intent, category and review route</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666750">
                <a:tc>
                  <a:txBody>
                    <a:bodyPr/>
                    <a:lstStyle/>
                    <a:p>
                      <a:r>
                        <a:rPr sz="1800" b="0">
                          <a:solidFill>
                            <a:srgbClr val="15283D"/>
                          </a:solidFill>
                          <a:latin typeface="DejaVu Sans"/>
                          <a:ea typeface="DejaVu Sans"/>
                          <a:cs typeface="DejaVu Sans"/>
                        </a:rPr>
                        <a:t>FAISS cosine retrieval</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Three cases and policy sections</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666750">
                <a:tc>
                  <a:txBody>
                    <a:bodyPr/>
                    <a:lstStyle/>
                    <a:p>
                      <a:r>
                        <a:rPr sz="1800" b="0">
                          <a:solidFill>
                            <a:srgbClr val="15283D"/>
                          </a:solidFill>
                          <a:latin typeface="DejaVu Sans"/>
                          <a:ea typeface="DejaVu Sans"/>
                          <a:cs typeface="DejaVu Sans"/>
                        </a:rPr>
                        <a:t>Evidence drafting + Pydantic</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Reply, citations and validated fields</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DE33A82-4705-4CFC-A4C9-E54023927A31}"/>
              </a:ext>
            </a:extLst>
          </p:cNvPr>
          <p:cNvSpPr>
            <a:spLocks xmlns:a="http://schemas.openxmlformats.org/drawingml/2006/main" noGrp="1"/>
          </p:cNvSpPr>
          <p:nvPr/>
        </p:nvSpPr>
        <p:spPr>
          <a:xfrm xmlns:a="http://schemas.openxmlformats.org/drawingml/2006/main">
            <a:off x="685800" y="53816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D364A"/>
                </a:solidFill>
                <a:latin typeface="DejaVu Sans"/>
                <a:ea typeface="DejaVu Sans"/>
                <a:cs typeface="DejaVu Sans"/>
              </a:defRPr>
            </a:defPPr>
          </a:lstStyle>
          <a:p xmlns:a="http://schemas.openxmlformats.org/drawingml/2006/main">
            <a:pPr algn="l">
              <a:defRPr sz="2175" b="1">
                <a:solidFill>
                  <a:srgbClr val="BD364A"/>
                </a:solidFill>
                <a:latin typeface="DejaVu Sans"/>
                <a:ea typeface="DejaVu Sans"/>
                <a:cs typeface="DejaVu Sans"/>
              </a:defRPr>
            </a:pPr>
            <a:r>
              <a:rPr sz="2175" b="1">
                <a:solidFill>
                  <a:srgbClr val="BD364A"/>
                </a:solidFill>
                <a:latin typeface="DejaVu Sans"/>
                <a:ea typeface="DejaVu Sans"/>
                <a:cs typeface="DejaVu Sans"/>
              </a:rPr>
              <a:t>Dense retrieval selected on development results</a:t>
            </a:r>
          </a:p>
        </p:txBody>
      </p:sp>
      <p:sp>
        <p:nvSpPr>
          <p:cNvPr id="4" name="">
            <a:extLst xmlns:a="http://schemas.openxmlformats.org/drawingml/2006/main">
              <a:ext uri="{FF2B5EF4-FFF2-40B4-BE49-F238E27FC236}">
                <a16:creationId xmlns:a16="http://schemas.microsoft.com/office/drawing/2014/main" id="{AA2850FB-1B73-4C80-81C8-78557E82DF89}"/>
              </a:ext>
            </a:extLst>
          </p:cNvPr>
          <p:cNvSpPr>
            <a:spLocks xmlns:a="http://schemas.openxmlformats.org/drawingml/2006/main" noGrp="1"/>
          </p:cNvSpPr>
          <p:nvPr/>
        </p:nvSpPr>
        <p:spPr>
          <a:xfrm xmlns:a="http://schemas.openxmlformats.org/drawingml/2006/main">
            <a:off x="685800" y="609600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06174"/>
                </a:solidFill>
                <a:latin typeface="DejaVu Sans"/>
                <a:ea typeface="DejaVu Sans"/>
                <a:cs typeface="DejaVu Sans"/>
              </a:defRPr>
            </a:defPPr>
          </a:lstStyle>
          <a:p xmlns:a="http://schemas.openxmlformats.org/drawingml/2006/main">
            <a:pPr algn="l">
              <a:defRPr sz="1575" b="0">
                <a:solidFill>
                  <a:srgbClr val="506174"/>
                </a:solidFill>
                <a:latin typeface="DejaVu Sans"/>
                <a:ea typeface="DejaVu Sans"/>
                <a:cs typeface="DejaVu Sans"/>
              </a:defRPr>
            </a:pPr>
            <a:r>
              <a:rPr sz="1575" b="0">
                <a:solidFill>
                  <a:srgbClr val="506174"/>
                </a:solidFill>
                <a:latin typeface="DejaVu Sans"/>
                <a:ea typeface="DejaVu Sans"/>
                <a:cs typeface="DejaVu Sans"/>
              </a:rPr>
              <a:t>Policies remain in the KB. Each reply is a draft for agent review.</a:t>
            </a:r>
          </a:p>
        </p:txBody>
      </p:sp>
    </p:spTree>
    <p:extLst>
      <p:ext uri="{BB962C8B-B14F-4D97-AF65-F5344CB8AC3E}">
        <p14:creationId xmlns:p14="http://schemas.microsoft.com/office/powerpoint/2010/main" val="1681019131"/>
      </p:ext>
    </p:extLst>
  </p:cSld>
</p:sld>
</file>

<file path=ppt/slides/slide4.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A27C21-FEB1-48DF-B00B-1A65BEFA8766}"/>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283D"/>
                </a:solidFill>
                <a:latin typeface="DejaVu Sans"/>
                <a:ea typeface="DejaVu Sans"/>
                <a:cs typeface="DejaVu Sans"/>
              </a:defRPr>
            </a:defPPr>
          </a:lstStyle>
          <a:p xmlns:a="http://schemas.openxmlformats.org/drawingml/2006/main">
            <a:pPr algn="l">
              <a:defRPr sz="3300" b="1">
                <a:solidFill>
                  <a:srgbClr val="15283D"/>
                </a:solidFill>
                <a:latin typeface="DejaVu Sans"/>
                <a:ea typeface="DejaVu Sans"/>
                <a:cs typeface="DejaVu Sans"/>
              </a:defRPr>
            </a:pPr>
            <a:r>
              <a:rPr sz="3300" b="1">
                <a:solidFill>
                  <a:srgbClr val="15283D"/>
                </a:solidFill>
                <a:latin typeface="DejaVu Sans"/>
                <a:ea typeface="DejaVu Sans"/>
                <a:cs typeface="DejaVu Sans"/>
              </a:rPr>
              <a:t>Baseline and measured improvement</a:t>
            </a:r>
          </a:p>
        </p:txBody>
      </p:sp>
      <p:graphicFrame>
        <p:nvGraphicFramePr>
          <p:cNvPr id="2" name="">
            <a:extLst xmlns:a="http://schemas.openxmlformats.org/drawingml/2006/main">
              <a:ext uri="{FF2B5EF4-FFF2-40B4-BE49-F238E27FC236}">
                <a16:creationId xmlns:a16="http://schemas.microsoft.com/office/drawing/2014/main" id="{B5223D89-840D-4B9E-A117-E98089271E11}"/>
              </a:ext>
            </a:extLst>
          </p:cNvPr>
          <p:cNvGraphicFramePr/>
          <p:nvPr/>
        </p:nvGraphicFramePr>
        <p:xfrm>
          <a:off xmlns:a="http://schemas.openxmlformats.org/drawingml/2006/main" x="685800" y="1952625"/>
          <a:ext xmlns:a="http://schemas.openxmlformats.org/drawingml/2006/main" cx="10287000" cy="2857500"/>
        </p:xfrm>
        <a:graphic xmlns:a="http://schemas.openxmlformats.org/drawingml/2006/main">
          <a:graphicData uri="http://schemas.openxmlformats.org/drawingml/2006/table">
            <a:tbl>
              <a:tblPr/>
              <a:tblGrid>
                <a:gridCol w="5334000"/>
                <a:gridCol w="2476500"/>
                <a:gridCol w="2476500"/>
              </a:tblGrid>
              <a:tr h="714375">
                <a:tc>
                  <a:txBody>
                    <a:bodyPr/>
                    <a:lstStyle/>
                    <a:p>
                      <a:r>
                        <a:rPr sz="1800" b="1">
                          <a:solidFill>
                            <a:srgbClr val="FFFFFF"/>
                          </a:solidFill>
                          <a:latin typeface="DejaVu Sans"/>
                          <a:ea typeface="DejaVu Sans"/>
                          <a:cs typeface="DejaVu Sans"/>
                        </a:rPr>
                        <a:t>Classifier</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EN macro-F1</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AR macro-F1</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r>
              <a:tr h="714375">
                <a:tc>
                  <a:txBody>
                    <a:bodyPr/>
                    <a:lstStyle/>
                    <a:p>
                      <a:r>
                        <a:rPr sz="1800" b="0">
                          <a:solidFill>
                            <a:srgbClr val="15283D"/>
                          </a:solidFill>
                          <a:latin typeface="DejaVu Sans"/>
                          <a:ea typeface="DejaVu Sans"/>
                          <a:cs typeface="DejaVu Sans"/>
                        </a:rPr>
                        <a:t>TF-IDF + LR, English</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98.5%</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0.3%</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714375">
                <a:tc>
                  <a:txBody>
                    <a:bodyPr/>
                    <a:lstStyle/>
                    <a:p>
                      <a:r>
                        <a:rPr sz="1800" b="0">
                          <a:solidFill>
                            <a:srgbClr val="15283D"/>
                          </a:solidFill>
                          <a:latin typeface="DejaVu Sans"/>
                          <a:ea typeface="DejaVu Sans"/>
                          <a:cs typeface="DejaVu Sans"/>
                        </a:rPr>
                        <a:t>e5 + LR, English</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99.0%</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47.5%</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714375">
                <a:tc>
                  <a:txBody>
                    <a:bodyPr/>
                    <a:lstStyle/>
                    <a:p>
                      <a:r>
                        <a:rPr sz="1800" b="0">
                          <a:solidFill>
                            <a:srgbClr val="15283D"/>
                          </a:solidFill>
                          <a:latin typeface="DejaVu Sans"/>
                          <a:ea typeface="DejaVu Sans"/>
                          <a:cs typeface="DejaVu Sans"/>
                        </a:rPr>
                        <a:t>e5 + LR, bilingual</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99.5%</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72.5%</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6FD998F-A95F-4E95-8AED-0B28CC727BF3}"/>
              </a:ext>
            </a:extLst>
          </p:cNvPr>
          <p:cNvSpPr>
            <a:spLocks xmlns:a="http://schemas.openxmlformats.org/drawingml/2006/main" noGrp="1"/>
          </p:cNvSpPr>
          <p:nvPr/>
        </p:nvSpPr>
        <p:spPr>
          <a:xfrm xmlns:a="http://schemas.openxmlformats.org/drawingml/2006/main">
            <a:off x="685800" y="519112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D364A"/>
                </a:solidFill>
                <a:latin typeface="DejaVu Sans"/>
                <a:ea typeface="DejaVu Sans"/>
                <a:cs typeface="DejaVu Sans"/>
              </a:defRPr>
            </a:defPPr>
          </a:lstStyle>
          <a:p xmlns:a="http://schemas.openxmlformats.org/drawingml/2006/main">
            <a:pPr algn="l">
              <a:defRPr sz="2250" b="1">
                <a:solidFill>
                  <a:srgbClr val="BD364A"/>
                </a:solidFill>
                <a:latin typeface="DejaVu Sans"/>
                <a:ea typeface="DejaVu Sans"/>
                <a:cs typeface="DejaVu Sans"/>
              </a:defRPr>
            </a:pPr>
            <a:r>
              <a:rPr sz="2250" b="1">
                <a:solidFill>
                  <a:srgbClr val="BD364A"/>
                </a:solidFill>
                <a:latin typeface="DejaVu Sans"/>
                <a:ea typeface="DejaVu Sans"/>
                <a:cs typeface="DejaVu Sans"/>
              </a:rPr>
              <a:t>Final AR acceptance coverage: 29.6%</a:t>
            </a:r>
          </a:p>
        </p:txBody>
      </p:sp>
      <p:sp>
        <p:nvSpPr>
          <p:cNvPr id="4" name="">
            <a:extLst xmlns:a="http://schemas.openxmlformats.org/drawingml/2006/main">
              <a:ext uri="{FF2B5EF4-FFF2-40B4-BE49-F238E27FC236}">
                <a16:creationId xmlns:a16="http://schemas.microsoft.com/office/drawing/2014/main" id="{6041A196-5029-4DF9-B0D6-8F08395ED771}"/>
              </a:ext>
            </a:extLst>
          </p:cNvPr>
          <p:cNvSpPr>
            <a:spLocks xmlns:a="http://schemas.openxmlformats.org/drawingml/2006/main" noGrp="1"/>
          </p:cNvSpPr>
          <p:nvPr/>
        </p:nvSpPr>
        <p:spPr>
          <a:xfrm xmlns:a="http://schemas.openxmlformats.org/drawingml/2006/main">
            <a:off x="685800" y="609600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06174"/>
                </a:solidFill>
                <a:latin typeface="DejaVu Sans"/>
                <a:ea typeface="DejaVu Sans"/>
                <a:cs typeface="DejaVu Sans"/>
              </a:defRPr>
            </a:defPPr>
          </a:lstStyle>
          <a:p xmlns:a="http://schemas.openxmlformats.org/drawingml/2006/main">
            <a:pPr algn="l">
              <a:defRPr sz="1575" b="0">
                <a:solidFill>
                  <a:srgbClr val="506174"/>
                </a:solidFill>
                <a:latin typeface="DejaVu Sans"/>
                <a:ea typeface="DejaVu Sans"/>
                <a:cs typeface="DejaVu Sans"/>
              </a:defRPr>
            </a:pPr>
            <a:r>
              <a:rPr sz="1575" b="0">
                <a:solidFill>
                  <a:srgbClr val="506174"/>
                </a:solidFill>
                <a:latin typeface="DejaVu Sans"/>
                <a:ea typeface="DejaVu Sans"/>
                <a:cs typeface="DejaVu Sans"/>
              </a:rPr>
              <a:t>Classifier p95: 16.3 ms. Dense test Hit@3: 83.3%. External API fee: $0.</a:t>
            </a:r>
          </a:p>
        </p:txBody>
      </p:sp>
    </p:spTree>
    <p:extLst>
      <p:ext uri="{BB962C8B-B14F-4D97-AF65-F5344CB8AC3E}">
        <p14:creationId xmlns:p14="http://schemas.microsoft.com/office/powerpoint/2010/main" val="44626785"/>
      </p:ext>
    </p:extLst>
  </p:cSld>
</p:sld>
</file>

<file path=ppt/slides/slide5.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027B31-6292-4460-95EA-84E442954E19}"/>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283D"/>
                </a:solidFill>
                <a:latin typeface="DejaVu Sans"/>
                <a:ea typeface="DejaVu Sans"/>
                <a:cs typeface="DejaVu Sans"/>
              </a:defRPr>
            </a:defPPr>
          </a:lstStyle>
          <a:p xmlns:a="http://schemas.openxmlformats.org/drawingml/2006/main">
            <a:pPr algn="l">
              <a:defRPr sz="3300" b="1">
                <a:solidFill>
                  <a:srgbClr val="15283D"/>
                </a:solidFill>
                <a:latin typeface="DejaVu Sans"/>
                <a:ea typeface="DejaVu Sans"/>
                <a:cs typeface="DejaVu Sans"/>
              </a:defRPr>
            </a:pPr>
            <a:r>
              <a:rPr sz="3300" b="1">
                <a:solidFill>
                  <a:srgbClr val="15283D"/>
                </a:solidFill>
                <a:latin typeface="DejaVu Sans"/>
                <a:ea typeface="DejaVu Sans"/>
                <a:cs typeface="DejaVu Sans"/>
              </a:rPr>
              <a:t>Tests and error analysis</a:t>
            </a:r>
          </a:p>
        </p:txBody>
      </p:sp>
      <p:graphicFrame>
        <p:nvGraphicFramePr>
          <p:cNvPr id="2" name="">
            <a:extLst xmlns:a="http://schemas.openxmlformats.org/drawingml/2006/main">
              <a:ext uri="{FF2B5EF4-FFF2-40B4-BE49-F238E27FC236}">
                <a16:creationId xmlns:a16="http://schemas.microsoft.com/office/drawing/2014/main" id="{D584D2BA-E080-4E46-87D8-62F325162273}"/>
              </a:ext>
            </a:extLst>
          </p:cNvPr>
          <p:cNvGraphicFramePr/>
          <p:nvPr/>
        </p:nvGraphicFramePr>
        <p:xfrm>
          <a:off xmlns:a="http://schemas.openxmlformats.org/drawingml/2006/main" x="685800" y="1762125"/>
          <a:ext xmlns:a="http://schemas.openxmlformats.org/drawingml/2006/main" cx="10287000" cy="3048000"/>
        </p:xfrm>
        <a:graphic xmlns:a="http://schemas.openxmlformats.org/drawingml/2006/main">
          <a:graphicData uri="http://schemas.openxmlformats.org/drawingml/2006/table">
            <a:tbl>
              <a:tblPr/>
              <a:tblGrid>
                <a:gridCol w="5095875"/>
                <a:gridCol w="5191125"/>
              </a:tblGrid>
              <a:tr h="609600">
                <a:tc>
                  <a:txBody>
                    <a:bodyPr/>
                    <a:lstStyle/>
                    <a:p>
                      <a:r>
                        <a:rPr sz="1800" b="1">
                          <a:solidFill>
                            <a:srgbClr val="FFFFFF"/>
                          </a:solidFill>
                          <a:latin typeface="DejaVu Sans"/>
                          <a:ea typeface="DejaVu Sans"/>
                          <a:cs typeface="DejaVu Sans"/>
                        </a:rPr>
                        <a:t>Evidence</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Observed result</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r>
              <a:tr h="609600">
                <a:tc>
                  <a:txBody>
                    <a:bodyPr/>
                    <a:lstStyle/>
                    <a:p>
                      <a:r>
                        <a:rPr sz="1800" b="0">
                          <a:solidFill>
                            <a:srgbClr val="15283D"/>
                          </a:solidFill>
                          <a:latin typeface="DejaVu Sans"/>
                          <a:ea typeface="DejaVu Sans"/>
                          <a:cs typeface="DejaVu Sans"/>
                        </a:rPr>
                        <a:t>Behavior and integrity tests</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9 passed, 0 failed</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609600">
                <a:tc>
                  <a:txBody>
                    <a:bodyPr/>
                    <a:lstStyle/>
                    <a:p>
                      <a:r>
                        <a:rPr sz="1800" b="0">
                          <a:solidFill>
                            <a:srgbClr val="15283D"/>
                          </a:solidFill>
                          <a:latin typeface="DejaVu Sans"/>
                          <a:ea typeface="DejaVu Sans"/>
                          <a:cs typeface="DejaVu Sans"/>
                        </a:rPr>
                        <a:t>Reviewed classifier failures</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12 actual errors, 5 cause categories</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609600">
                <a:tc>
                  <a:txBody>
                    <a:bodyPr/>
                    <a:lstStyle/>
                    <a:p>
                      <a:r>
                        <a:rPr sz="1800" b="0">
                          <a:solidFill>
                            <a:srgbClr val="15283D"/>
                          </a:solidFill>
                          <a:latin typeface="DejaVu Sans"/>
                          <a:ea typeface="DejaVu Sans"/>
                          <a:cs typeface="DejaVu Sans"/>
                        </a:rPr>
                        <a:t>Unrelated-input smoke suite</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5 rejected, 1 false acceptance</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609600">
                <a:tc>
                  <a:txBody>
                    <a:bodyPr/>
                    <a:lstStyle/>
                    <a:p>
                      <a:r>
                        <a:rPr sz="1800" b="0">
                          <a:solidFill>
                            <a:srgbClr val="15283D"/>
                          </a:solidFill>
                          <a:latin typeface="DejaVu Sans"/>
                          <a:ea typeface="DejaVu Sans"/>
                          <a:cs typeface="DejaVu Sans"/>
                        </a:rPr>
                        <a:t>Example: get the bill</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get_invoice predicted as check_invoice</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22C774E-1216-481C-832A-2485FEC88C1C}"/>
              </a:ext>
            </a:extLst>
          </p:cNvPr>
          <p:cNvSpPr>
            <a:spLocks xmlns:a="http://schemas.openxmlformats.org/drawingml/2006/main" noGrp="1"/>
          </p:cNvSpPr>
          <p:nvPr/>
        </p:nvSpPr>
        <p:spPr>
          <a:xfrm xmlns:a="http://schemas.openxmlformats.org/drawingml/2006/main">
            <a:off x="685800" y="519112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D364A"/>
                </a:solidFill>
                <a:latin typeface="DejaVu Sans"/>
                <a:ea typeface="DejaVu Sans"/>
                <a:cs typeface="DejaVu Sans"/>
              </a:defRPr>
            </a:defPPr>
          </a:lstStyle>
          <a:p xmlns:a="http://schemas.openxmlformats.org/drawingml/2006/main">
            <a:pPr algn="l">
              <a:defRPr sz="2175" b="1">
                <a:solidFill>
                  <a:srgbClr val="BD364A"/>
                </a:solidFill>
                <a:latin typeface="DejaVu Sans"/>
                <a:ea typeface="DejaVu Sans"/>
                <a:cs typeface="DejaVu Sans"/>
              </a:defRPr>
            </a:pPr>
            <a:r>
              <a:rPr sz="2175" b="1">
                <a:solidFill>
                  <a:srgbClr val="BD364A"/>
                </a:solidFill>
                <a:latin typeface="DejaVu Sans"/>
                <a:ea typeface="DejaVu Sans"/>
                <a:cs typeface="DejaVu Sans"/>
              </a:rPr>
              <a:t>Observed scope failure</a:t>
            </a:r>
          </a:p>
        </p:txBody>
      </p:sp>
      <p:sp>
        <p:nvSpPr>
          <p:cNvPr id="4" name="">
            <a:extLst xmlns:a="http://schemas.openxmlformats.org/drawingml/2006/main">
              <a:ext uri="{FF2B5EF4-FFF2-40B4-BE49-F238E27FC236}">
                <a16:creationId xmlns:a16="http://schemas.microsoft.com/office/drawing/2014/main" id="{5FA7780C-F79E-4C8E-A176-32A24D18FFB2}"/>
              </a:ext>
            </a:extLst>
          </p:cNvPr>
          <p:cNvSpPr>
            <a:spLocks xmlns:a="http://schemas.openxmlformats.org/drawingml/2006/main" noGrp="1"/>
          </p:cNvSpPr>
          <p:nvPr/>
        </p:nvSpPr>
        <p:spPr>
          <a:xfrm xmlns:a="http://schemas.openxmlformats.org/drawingml/2006/main">
            <a:off x="685800" y="576262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5283D"/>
                </a:solidFill>
                <a:latin typeface="DejaVu Sans"/>
                <a:ea typeface="DejaVu Sans"/>
                <a:cs typeface="DejaVu Sans"/>
              </a:defRPr>
            </a:defPPr>
          </a:lstStyle>
          <a:p xmlns:a="http://schemas.openxmlformats.org/drawingml/2006/main">
            <a:pPr algn="l">
              <a:defRPr sz="1875" b="0">
                <a:solidFill>
                  <a:srgbClr val="15283D"/>
                </a:solidFill>
                <a:latin typeface="DejaVu Sans"/>
                <a:ea typeface="DejaVu Sans"/>
                <a:cs typeface="DejaVu Sans"/>
              </a:defRPr>
            </a:pPr>
            <a:r>
              <a:rPr sz="1875" b="0">
                <a:solidFill>
                  <a:srgbClr val="15283D"/>
                </a:solidFill>
                <a:latin typeface="DejaVu Sans"/>
                <a:ea typeface="DejaVu Sans"/>
                <a:cs typeface="DejaVu Sans"/>
              </a:rPr>
              <a:t>The Mars orbital-period query receives a delivery-policy draft</a:t>
            </a:r>
          </a:p>
          <a:p xmlns:a="http://schemas.openxmlformats.org/drawingml/2006/main">
            <a:pPr algn="l">
              <a:defRPr sz="1875" b="0">
                <a:solidFill>
                  <a:srgbClr val="15283D"/>
                </a:solidFill>
                <a:latin typeface="DejaVu Sans"/>
                <a:ea typeface="DejaVu Sans"/>
                <a:cs typeface="DejaVu Sans"/>
              </a:defRPr>
            </a:pPr>
            <a:r>
              <a:rPr sz="1875" b="0">
                <a:solidFill>
                  <a:srgbClr val="15283D"/>
                </a:solidFill>
                <a:latin typeface="DejaVu Sans"/>
                <a:ea typeface="DejaVu Sans"/>
                <a:cs typeface="DejaVu Sans"/>
              </a:rPr>
              <a:t>with 92.5% classifier confidence.</a:t>
            </a:r>
          </a:p>
        </p:txBody>
      </p:sp>
    </p:spTree>
    <p:extLst>
      <p:ext uri="{BB962C8B-B14F-4D97-AF65-F5344CB8AC3E}">
        <p14:creationId xmlns:p14="http://schemas.microsoft.com/office/powerpoint/2010/main" val="639664513"/>
      </p:ext>
    </p:extLst>
  </p:cSld>
</p:sld>
</file>

<file path=ppt/slides/slide6.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ABCBCE-5D7D-4502-A4D2-FDDA41C33C57}"/>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283D"/>
                </a:solidFill>
                <a:latin typeface="DejaVu Sans"/>
                <a:ea typeface="DejaVu Sans"/>
                <a:cs typeface="DejaVu Sans"/>
              </a:defRPr>
            </a:defPPr>
          </a:lstStyle>
          <a:p xmlns:a="http://schemas.openxmlformats.org/drawingml/2006/main">
            <a:pPr algn="l">
              <a:defRPr sz="3300" b="1">
                <a:solidFill>
                  <a:srgbClr val="15283D"/>
                </a:solidFill>
                <a:latin typeface="DejaVu Sans"/>
                <a:ea typeface="DejaVu Sans"/>
                <a:cs typeface="DejaVu Sans"/>
              </a:defRPr>
            </a:pPr>
            <a:r>
              <a:rPr sz="3300" b="1">
                <a:solidFill>
                  <a:srgbClr val="15283D"/>
                </a:solidFill>
                <a:latin typeface="DejaVu Sans"/>
                <a:ea typeface="DejaVu Sans"/>
                <a:cs typeface="DejaVu Sans"/>
              </a:rPr>
              <a:t>English sample: account deletion</a:t>
            </a:r>
          </a:p>
        </p:txBody>
      </p:sp>
      <p:sp>
        <p:nvSpPr>
          <p:cNvPr id="2" name="">
            <a:extLst xmlns:a="http://schemas.openxmlformats.org/drawingml/2006/main">
              <a:ext uri="{FF2B5EF4-FFF2-40B4-BE49-F238E27FC236}">
                <a16:creationId xmlns:a16="http://schemas.microsoft.com/office/drawing/2014/main" id="{6CB4F421-2D72-4A49-ABC0-A92028E23EBC}"/>
              </a:ext>
            </a:extLst>
          </p:cNvPr>
          <p:cNvSpPr>
            <a:spLocks xmlns:a="http://schemas.openxmlformats.org/drawingml/2006/main" noGrp="1"/>
          </p:cNvSpPr>
          <p:nvPr/>
        </p:nvSpPr>
        <p:spPr>
          <a:xfrm xmlns:a="http://schemas.openxmlformats.org/drawingml/2006/main">
            <a:off x="685800" y="147637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BD364A"/>
                </a:solidFill>
                <a:latin typeface="DejaVu Sans"/>
                <a:ea typeface="DejaVu Sans"/>
                <a:cs typeface="DejaVu Sans"/>
              </a:defRPr>
            </a:defPPr>
          </a:lstStyle>
          <a:p xmlns:a="http://schemas.openxmlformats.org/drawingml/2006/main">
            <a:pPr algn="l">
              <a:defRPr sz="2400" b="1">
                <a:solidFill>
                  <a:srgbClr val="BD364A"/>
                </a:solidFill>
                <a:latin typeface="DejaVu Sans"/>
                <a:ea typeface="DejaVu Sans"/>
                <a:cs typeface="DejaVu Sans"/>
              </a:defRPr>
            </a:pPr>
            <a:r>
              <a:rPr sz="2400" b="1">
                <a:solidFill>
                  <a:srgbClr val="BD364A"/>
                </a:solidFill>
                <a:latin typeface="DejaVu Sans"/>
                <a:ea typeface="DejaVu Sans"/>
                <a:cs typeface="DejaVu Sans"/>
              </a:rPr>
              <a:t>How do I delete my account?</a:t>
            </a:r>
          </a:p>
        </p:txBody>
      </p:sp>
      <p:graphicFrame>
        <p:nvGraphicFramePr>
          <p:cNvPr id="3" name="">
            <a:extLst xmlns:a="http://schemas.openxmlformats.org/drawingml/2006/main">
              <a:ext uri="{FF2B5EF4-FFF2-40B4-BE49-F238E27FC236}">
                <a16:creationId xmlns:a16="http://schemas.microsoft.com/office/drawing/2014/main" id="{4F926D6A-344F-464D-AED4-BC36E51CC670}"/>
              </a:ext>
            </a:extLst>
          </p:cNvPr>
          <p:cNvGraphicFramePr/>
          <p:nvPr/>
        </p:nvGraphicFramePr>
        <p:xfrm>
          <a:off xmlns:a="http://schemas.openxmlformats.org/drawingml/2006/main" x="685800" y="2381250"/>
          <a:ext xmlns:a="http://schemas.openxmlformats.org/drawingml/2006/main" cx="10287000" cy="2762250"/>
        </p:xfrm>
        <a:graphic xmlns:a="http://schemas.openxmlformats.org/drawingml/2006/main">
          <a:graphicData uri="http://schemas.openxmlformats.org/drawingml/2006/table">
            <a:tbl>
              <a:tblPr/>
              <a:tblGrid>
                <a:gridCol w="3238500"/>
                <a:gridCol w="7048500"/>
              </a:tblGrid>
              <a:tr h="552450">
                <a:tc>
                  <a:txBody>
                    <a:bodyPr/>
                    <a:lstStyle/>
                    <a:p>
                      <a:r>
                        <a:rPr sz="1800" b="1">
                          <a:solidFill>
                            <a:srgbClr val="FFFFFF"/>
                          </a:solidFill>
                          <a:latin typeface="DejaVu Sans"/>
                          <a:ea typeface="DejaVu Sans"/>
                          <a:cs typeface="DejaVu Sans"/>
                        </a:rPr>
                        <a:t>Output field</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Measured value</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r>
              <a:tr h="552450">
                <a:tc>
                  <a:txBody>
                    <a:bodyPr/>
                    <a:lstStyle/>
                    <a:p>
                      <a:r>
                        <a:rPr sz="1800" b="0">
                          <a:solidFill>
                            <a:srgbClr val="15283D"/>
                          </a:solidFill>
                          <a:latin typeface="DejaVu Sans"/>
                          <a:ea typeface="DejaVu Sans"/>
                          <a:cs typeface="DejaVu Sans"/>
                        </a:rPr>
                        <a:t>Intent / category</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delete_account / ACCOUNT</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52450">
                <a:tc>
                  <a:txBody>
                    <a:bodyPr/>
                    <a:lstStyle/>
                    <a:p>
                      <a:r>
                        <a:rPr sz="1800" b="0">
                          <a:solidFill>
                            <a:srgbClr val="15283D"/>
                          </a:solidFill>
                          <a:latin typeface="DejaVu Sans"/>
                          <a:ea typeface="DejaVu Sans"/>
                          <a:cs typeface="DejaVu Sans"/>
                        </a:rPr>
                        <a:t>Confidence / priority</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97.9% / medium</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52450">
                <a:tc>
                  <a:txBody>
                    <a:bodyPr/>
                    <a:lstStyle/>
                    <a:p>
                      <a:r>
                        <a:rPr sz="1800" b="0">
                          <a:solidFill>
                            <a:srgbClr val="15283D"/>
                          </a:solidFill>
                          <a:latin typeface="DejaVu Sans"/>
                          <a:ea typeface="DejaVu Sans"/>
                          <a:cs typeface="DejaVu Sans"/>
                        </a:rPr>
                        <a:t>Route</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draft_for_agent</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52450">
                <a:tc>
                  <a:txBody>
                    <a:bodyPr/>
                    <a:lstStyle/>
                    <a:p>
                      <a:r>
                        <a:rPr sz="1800" b="0">
                          <a:solidFill>
                            <a:srgbClr val="15283D"/>
                          </a:solidFill>
                          <a:latin typeface="DejaVu Sans"/>
                          <a:ea typeface="DejaVu Sans"/>
                          <a:cs typeface="DejaVu Sans"/>
                        </a:rPr>
                        <a:t>Citation</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account#deleting-your-account</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B899A2-99AB-484A-BBF2-35B0A9E92C6A}"/>
              </a:ext>
            </a:extLst>
          </p:cNvPr>
          <p:cNvSpPr>
            <a:spLocks xmlns:a="http://schemas.openxmlformats.org/drawingml/2006/main" noGrp="1"/>
          </p:cNvSpPr>
          <p:nvPr/>
        </p:nvSpPr>
        <p:spPr>
          <a:xfrm xmlns:a="http://schemas.openxmlformats.org/drawingml/2006/main">
            <a:off x="685800" y="538162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06174"/>
                </a:solidFill>
                <a:latin typeface="DejaVu Sans"/>
                <a:ea typeface="DejaVu Sans"/>
                <a:cs typeface="DejaVu Sans"/>
              </a:defRPr>
            </a:defPPr>
          </a:lstStyle>
          <a:p xmlns:a="http://schemas.openxmlformats.org/drawingml/2006/main">
            <a:pPr algn="l">
              <a:defRPr sz="1875" b="1">
                <a:solidFill>
                  <a:srgbClr val="506174"/>
                </a:solidFill>
                <a:latin typeface="DejaVu Sans"/>
                <a:ea typeface="DejaVu Sans"/>
                <a:cs typeface="DejaVu Sans"/>
              </a:defRPr>
            </a:pPr>
            <a:r>
              <a:rPr sz="1875" b="1">
                <a:solidFill>
                  <a:srgbClr val="506174"/>
                </a:solidFill>
                <a:latin typeface="DejaVu Sans"/>
                <a:ea typeface="DejaVu Sans"/>
                <a:cs typeface="DejaVu Sans"/>
              </a:rPr>
              <a:t>Reply excerpt</a:t>
            </a:r>
          </a:p>
        </p:txBody>
      </p:sp>
      <p:sp>
        <p:nvSpPr>
          <p:cNvPr id="5" name="">
            <a:extLst xmlns:a="http://schemas.openxmlformats.org/drawingml/2006/main">
              <a:ext uri="{FF2B5EF4-FFF2-40B4-BE49-F238E27FC236}">
                <a16:creationId xmlns:a16="http://schemas.microsoft.com/office/drawing/2014/main" id="{A24DF9E7-6F6C-4DDB-A022-DAA4BB1BC01C}"/>
              </a:ext>
            </a:extLst>
          </p:cNvPr>
          <p:cNvSpPr>
            <a:spLocks xmlns:a="http://schemas.openxmlformats.org/drawingml/2006/main" noGrp="1"/>
          </p:cNvSpPr>
          <p:nvPr/>
        </p:nvSpPr>
        <p:spPr>
          <a:xfrm xmlns:a="http://schemas.openxmlformats.org/drawingml/2006/main">
            <a:off x="685800" y="58293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283D"/>
                </a:solidFill>
                <a:latin typeface="DejaVu Sans"/>
                <a:ea typeface="DejaVu Sans"/>
                <a:cs typeface="DejaVu Sans"/>
              </a:defRPr>
            </a:defPPr>
          </a:lstStyle>
          <a:p xmlns:a="http://schemas.openxmlformats.org/drawingml/2006/main">
            <a:pPr algn="l">
              <a:defRPr sz="1950" b="0">
                <a:solidFill>
                  <a:srgbClr val="15283D"/>
                </a:solidFill>
                <a:latin typeface="DejaVu Sans"/>
                <a:ea typeface="DejaVu Sans"/>
                <a:cs typeface="DejaVu Sans"/>
              </a:defRPr>
            </a:pPr>
            <a:r>
              <a:rPr sz="1950" b="0">
                <a:solidFill>
                  <a:srgbClr val="15283D"/>
                </a:solidFill>
                <a:latin typeface="DejaVu Sans"/>
                <a:ea typeface="DejaVu Sans"/>
                <a:cs typeface="DejaVu Sans"/>
              </a:rPr>
              <a:t>You can request account deletion under Account → Privacy → Delete account.</a:t>
            </a:r>
          </a:p>
        </p:txBody>
      </p:sp>
    </p:spTree>
    <p:extLst>
      <p:ext uri="{BB962C8B-B14F-4D97-AF65-F5344CB8AC3E}">
        <p14:creationId xmlns:p14="http://schemas.microsoft.com/office/powerpoint/2010/main" val="643948805"/>
      </p:ext>
    </p:extLst>
  </p:cSld>
</p:sld>
</file>

<file path=ppt/slides/slide7.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A80FAA-F183-4C1E-BEB0-273CCF6AE6CB}"/>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283D"/>
                </a:solidFill>
                <a:latin typeface="DejaVu Sans"/>
                <a:ea typeface="DejaVu Sans"/>
                <a:cs typeface="DejaVu Sans"/>
              </a:defRPr>
            </a:defPPr>
          </a:lstStyle>
          <a:p xmlns:a="http://schemas.openxmlformats.org/drawingml/2006/main">
            <a:pPr algn="l">
              <a:defRPr sz="3300" b="1">
                <a:solidFill>
                  <a:srgbClr val="15283D"/>
                </a:solidFill>
                <a:latin typeface="DejaVu Sans"/>
                <a:ea typeface="DejaVu Sans"/>
                <a:cs typeface="DejaVu Sans"/>
              </a:defRPr>
            </a:pPr>
            <a:r>
              <a:rPr sz="3300" b="1">
                <a:solidFill>
                  <a:srgbClr val="15283D"/>
                </a:solidFill>
                <a:latin typeface="DejaVu Sans"/>
                <a:ea typeface="DejaVu Sans"/>
                <a:cs typeface="DejaVu Sans"/>
              </a:rPr>
              <a:t>Arabic sample: account deletion</a:t>
            </a:r>
          </a:p>
        </p:txBody>
      </p:sp>
      <p:sp>
        <p:nvSpPr>
          <p:cNvPr id="2" name="">
            <a:extLst xmlns:a="http://schemas.openxmlformats.org/drawingml/2006/main">
              <a:ext uri="{FF2B5EF4-FFF2-40B4-BE49-F238E27FC236}">
                <a16:creationId xmlns:a16="http://schemas.microsoft.com/office/drawing/2014/main" id="{435A57FC-F941-42FF-9C79-5154FF56CEB9}"/>
              </a:ext>
            </a:extLst>
          </p:cNvPr>
          <p:cNvSpPr>
            <a:spLocks xmlns:a="http://schemas.openxmlformats.org/drawingml/2006/main" noGrp="1"/>
          </p:cNvSpPr>
          <p:nvPr/>
        </p:nvSpPr>
        <p:spPr>
          <a:xfrm xmlns:a="http://schemas.openxmlformats.org/drawingml/2006/main">
            <a:off x="685800" y="14287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06174"/>
                </a:solidFill>
                <a:latin typeface="DejaVu Sans"/>
                <a:ea typeface="DejaVu Sans"/>
                <a:cs typeface="DejaVu Sans"/>
              </a:defRPr>
            </a:defPPr>
          </a:lstStyle>
          <a:p xmlns:a="http://schemas.openxmlformats.org/drawingml/2006/main">
            <a:pPr algn="l">
              <a:defRPr sz="1725" b="1">
                <a:solidFill>
                  <a:srgbClr val="506174"/>
                </a:solidFill>
                <a:latin typeface="DejaVu Sans"/>
                <a:ea typeface="DejaVu Sans"/>
                <a:cs typeface="DejaVu Sans"/>
              </a:defRPr>
            </a:pPr>
            <a:r>
              <a:rPr sz="1725" b="1">
                <a:solidFill>
                  <a:srgbClr val="506174"/>
                </a:solidFill>
                <a:latin typeface="DejaVu Sans"/>
                <a:ea typeface="DejaVu Sans"/>
                <a:cs typeface="DejaVu Sans"/>
              </a:rPr>
              <a:t>Arabic ticket, English translation:</a:t>
            </a:r>
          </a:p>
        </p:txBody>
      </p:sp>
      <p:sp>
        <p:nvSpPr>
          <p:cNvPr id="3" name="">
            <a:extLst xmlns:a="http://schemas.openxmlformats.org/drawingml/2006/main">
              <a:ext uri="{FF2B5EF4-FFF2-40B4-BE49-F238E27FC236}">
                <a16:creationId xmlns:a16="http://schemas.microsoft.com/office/drawing/2014/main" id="{F07961B8-47E7-4474-8CD7-2D788F2759A7}"/>
              </a:ext>
            </a:extLst>
          </p:cNvPr>
          <p:cNvSpPr>
            <a:spLocks xmlns:a="http://schemas.openxmlformats.org/drawingml/2006/main" noGrp="1"/>
          </p:cNvSpPr>
          <p:nvPr/>
        </p:nvSpPr>
        <p:spPr>
          <a:xfrm xmlns:a="http://schemas.openxmlformats.org/drawingml/2006/main">
            <a:off x="685800" y="188595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D364A"/>
                </a:solidFill>
                <a:latin typeface="DejaVu Sans"/>
                <a:ea typeface="DejaVu Sans"/>
                <a:cs typeface="DejaVu Sans"/>
              </a:defRPr>
            </a:defPPr>
          </a:lstStyle>
          <a:p xmlns:a="http://schemas.openxmlformats.org/drawingml/2006/main">
            <a:pPr algn="l">
              <a:defRPr sz="2250" b="1">
                <a:solidFill>
                  <a:srgbClr val="BD364A"/>
                </a:solidFill>
                <a:latin typeface="DejaVu Sans"/>
                <a:ea typeface="DejaVu Sans"/>
                <a:cs typeface="DejaVu Sans"/>
              </a:defRPr>
            </a:pPr>
            <a:r>
              <a:rPr sz="2250" b="1">
                <a:solidFill>
                  <a:srgbClr val="BD364A"/>
                </a:solidFill>
                <a:latin typeface="DejaVu Sans"/>
                <a:ea typeface="DejaVu Sans"/>
                <a:cs typeface="DejaVu Sans"/>
              </a:rPr>
              <a:t>I would like to delete my account permanently.</a:t>
            </a:r>
          </a:p>
        </p:txBody>
      </p:sp>
      <p:graphicFrame>
        <p:nvGraphicFramePr>
          <p:cNvPr id="4" name="">
            <a:extLst xmlns:a="http://schemas.openxmlformats.org/drawingml/2006/main">
              <a:ext uri="{FF2B5EF4-FFF2-40B4-BE49-F238E27FC236}">
                <a16:creationId xmlns:a16="http://schemas.microsoft.com/office/drawing/2014/main" id="{8F598B5E-8DEA-446F-AE15-1592F48F487D}"/>
              </a:ext>
            </a:extLst>
          </p:cNvPr>
          <p:cNvGraphicFramePr/>
          <p:nvPr/>
        </p:nvGraphicFramePr>
        <p:xfrm>
          <a:off xmlns:a="http://schemas.openxmlformats.org/drawingml/2006/main" x="685800" y="2381250"/>
          <a:ext xmlns:a="http://schemas.openxmlformats.org/drawingml/2006/main" cx="10287000" cy="2762250"/>
        </p:xfrm>
        <a:graphic xmlns:a="http://schemas.openxmlformats.org/drawingml/2006/main">
          <a:graphicData uri="http://schemas.openxmlformats.org/drawingml/2006/table">
            <a:tbl>
              <a:tblPr/>
              <a:tblGrid>
                <a:gridCol w="3238500"/>
                <a:gridCol w="7048500"/>
              </a:tblGrid>
              <a:tr h="552450">
                <a:tc>
                  <a:txBody>
                    <a:bodyPr/>
                    <a:lstStyle/>
                    <a:p>
                      <a:r>
                        <a:rPr sz="1800" b="1">
                          <a:solidFill>
                            <a:srgbClr val="FFFFFF"/>
                          </a:solidFill>
                          <a:latin typeface="DejaVu Sans"/>
                          <a:ea typeface="DejaVu Sans"/>
                          <a:cs typeface="DejaVu Sans"/>
                        </a:rPr>
                        <a:t>Output field</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Measured value</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r>
              <a:tr h="552450">
                <a:tc>
                  <a:txBody>
                    <a:bodyPr/>
                    <a:lstStyle/>
                    <a:p>
                      <a:r>
                        <a:rPr sz="1800" b="0">
                          <a:solidFill>
                            <a:srgbClr val="15283D"/>
                          </a:solidFill>
                          <a:latin typeface="DejaVu Sans"/>
                          <a:ea typeface="DejaVu Sans"/>
                          <a:cs typeface="DejaVu Sans"/>
                        </a:rPr>
                        <a:t>Intent / category</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delete_account / ACCOUNT</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52450">
                <a:tc>
                  <a:txBody>
                    <a:bodyPr/>
                    <a:lstStyle/>
                    <a:p>
                      <a:r>
                        <a:rPr sz="1800" b="0">
                          <a:solidFill>
                            <a:srgbClr val="15283D"/>
                          </a:solidFill>
                          <a:latin typeface="DejaVu Sans"/>
                          <a:ea typeface="DejaVu Sans"/>
                          <a:cs typeface="DejaVu Sans"/>
                        </a:rPr>
                        <a:t>Confidence / priority</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84.6% / medium</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52450">
                <a:tc>
                  <a:txBody>
                    <a:bodyPr/>
                    <a:lstStyle/>
                    <a:p>
                      <a:r>
                        <a:rPr sz="1800" b="0">
                          <a:solidFill>
                            <a:srgbClr val="15283D"/>
                          </a:solidFill>
                          <a:latin typeface="DejaVu Sans"/>
                          <a:ea typeface="DejaVu Sans"/>
                          <a:cs typeface="DejaVu Sans"/>
                        </a:rPr>
                        <a:t>Route</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draft_for_agent</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52450">
                <a:tc>
                  <a:txBody>
                    <a:bodyPr/>
                    <a:lstStyle/>
                    <a:p>
                      <a:r>
                        <a:rPr sz="1800" b="0">
                          <a:solidFill>
                            <a:srgbClr val="15283D"/>
                          </a:solidFill>
                          <a:latin typeface="DejaVu Sans"/>
                          <a:ea typeface="DejaVu Sans"/>
                          <a:cs typeface="DejaVu Sans"/>
                        </a:rPr>
                        <a:t>Citation</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account#deleting-your-account</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24D51FA-A1D1-4FE0-99D0-8276E9F33723}"/>
              </a:ext>
            </a:extLst>
          </p:cNvPr>
          <p:cNvSpPr>
            <a:spLocks xmlns:a="http://schemas.openxmlformats.org/drawingml/2006/main" noGrp="1"/>
          </p:cNvSpPr>
          <p:nvPr/>
        </p:nvSpPr>
        <p:spPr>
          <a:xfrm xmlns:a="http://schemas.openxmlformats.org/drawingml/2006/main">
            <a:off x="685800" y="538162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06174"/>
                </a:solidFill>
                <a:latin typeface="DejaVu Sans"/>
                <a:ea typeface="DejaVu Sans"/>
                <a:cs typeface="DejaVu Sans"/>
              </a:defRPr>
            </a:defPPr>
          </a:lstStyle>
          <a:p xmlns:a="http://schemas.openxmlformats.org/drawingml/2006/main">
            <a:pPr algn="l">
              <a:defRPr sz="1875" b="1">
                <a:solidFill>
                  <a:srgbClr val="506174"/>
                </a:solidFill>
                <a:latin typeface="DejaVu Sans"/>
                <a:ea typeface="DejaVu Sans"/>
                <a:cs typeface="DejaVu Sans"/>
              </a:defRPr>
            </a:pPr>
            <a:r>
              <a:rPr sz="1875" b="1">
                <a:solidFill>
                  <a:srgbClr val="506174"/>
                </a:solidFill>
                <a:latin typeface="DejaVu Sans"/>
                <a:ea typeface="DejaVu Sans"/>
                <a:cs typeface="DejaVu Sans"/>
              </a:rPr>
              <a:t>Reply excerpt, English translation</a:t>
            </a:r>
          </a:p>
        </p:txBody>
      </p:sp>
      <p:sp>
        <p:nvSpPr>
          <p:cNvPr id="6" name="">
            <a:extLst xmlns:a="http://schemas.openxmlformats.org/drawingml/2006/main">
              <a:ext uri="{FF2B5EF4-FFF2-40B4-BE49-F238E27FC236}">
                <a16:creationId xmlns:a16="http://schemas.microsoft.com/office/drawing/2014/main" id="{372D4832-37CC-457F-B561-C5EF53D8B33F}"/>
              </a:ext>
            </a:extLst>
          </p:cNvPr>
          <p:cNvSpPr>
            <a:spLocks xmlns:a="http://schemas.openxmlformats.org/drawingml/2006/main" noGrp="1"/>
          </p:cNvSpPr>
          <p:nvPr/>
        </p:nvSpPr>
        <p:spPr>
          <a:xfrm xmlns:a="http://schemas.openxmlformats.org/drawingml/2006/main">
            <a:off x="685800" y="5829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5283D"/>
                </a:solidFill>
                <a:latin typeface="DejaVu Sans"/>
                <a:ea typeface="DejaVu Sans"/>
                <a:cs typeface="DejaVu Sans"/>
              </a:defRPr>
            </a:defPPr>
          </a:lstStyle>
          <a:p xmlns:a="http://schemas.openxmlformats.org/drawingml/2006/main">
            <a:pPr algn="l">
              <a:defRPr sz="1875" b="0">
                <a:solidFill>
                  <a:srgbClr val="15283D"/>
                </a:solidFill>
                <a:latin typeface="DejaVu Sans"/>
                <a:ea typeface="DejaVu Sans"/>
                <a:cs typeface="DejaVu Sans"/>
              </a:defRPr>
            </a:pPr>
            <a:r>
              <a:rPr sz="1875" b="0">
                <a:solidFill>
                  <a:srgbClr val="15283D"/>
                </a:solidFill>
                <a:latin typeface="DejaVu Sans"/>
                <a:ea typeface="DejaVu Sans"/>
                <a:cs typeface="DejaVu Sans"/>
              </a:rPr>
              <a:t>Request deletion under Account, Privacy, Delete account. Deletion completes</a:t>
            </a:r>
          </a:p>
          <a:p xmlns:a="http://schemas.openxmlformats.org/drawingml/2006/main">
            <a:pPr algn="l">
              <a:defRPr sz="1875" b="0">
                <a:solidFill>
                  <a:srgbClr val="15283D"/>
                </a:solidFill>
                <a:latin typeface="DejaVu Sans"/>
                <a:ea typeface="DejaVu Sans"/>
                <a:cs typeface="DejaVu Sans"/>
              </a:defRPr>
            </a:pPr>
            <a:r>
              <a:rPr sz="1875" b="0">
                <a:solidFill>
                  <a:srgbClr val="15283D"/>
                </a:solidFill>
                <a:latin typeface="DejaVu Sans"/>
                <a:ea typeface="DejaVu Sans"/>
                <a:cs typeface="DejaVu Sans"/>
              </a:rPr>
              <a:t>after a 30-day grace period. Signing in during that period cancels the request.</a:t>
            </a:r>
          </a:p>
        </p:txBody>
      </p:sp>
    </p:spTree>
    <p:extLst>
      <p:ext uri="{BB962C8B-B14F-4D97-AF65-F5344CB8AC3E}">
        <p14:creationId xmlns:p14="http://schemas.microsoft.com/office/powerpoint/2010/main" val="200697623"/>
      </p:ext>
    </p:extLst>
  </p:cSld>
</p:sld>
</file>

<file path=ppt/slides/slide8.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C85AD4-68EA-4713-9AB5-84992645D5EA}"/>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283D"/>
                </a:solidFill>
                <a:latin typeface="DejaVu Sans"/>
                <a:ea typeface="DejaVu Sans"/>
                <a:cs typeface="DejaVu Sans"/>
              </a:defRPr>
            </a:defPPr>
          </a:lstStyle>
          <a:p xmlns:a="http://schemas.openxmlformats.org/drawingml/2006/main">
            <a:pPr algn="l">
              <a:defRPr sz="3300" b="1">
                <a:solidFill>
                  <a:srgbClr val="15283D"/>
                </a:solidFill>
                <a:latin typeface="DejaVu Sans"/>
                <a:ea typeface="DejaVu Sans"/>
                <a:cs typeface="DejaVu Sans"/>
              </a:defRPr>
            </a:pPr>
            <a:r>
              <a:rPr sz="3300" b="1">
                <a:solidFill>
                  <a:srgbClr val="15283D"/>
                </a:solidFill>
                <a:latin typeface="DejaVu Sans"/>
                <a:ea typeface="DejaVu Sans"/>
                <a:cs typeface="DejaVu Sans"/>
              </a:rPr>
              <a:t>Live test cases and limitations</a:t>
            </a:r>
          </a:p>
        </p:txBody>
      </p:sp>
      <p:graphicFrame>
        <p:nvGraphicFramePr>
          <p:cNvPr id="2" name="">
            <a:extLst xmlns:a="http://schemas.openxmlformats.org/drawingml/2006/main">
              <a:ext uri="{FF2B5EF4-FFF2-40B4-BE49-F238E27FC236}">
                <a16:creationId xmlns:a16="http://schemas.microsoft.com/office/drawing/2014/main" id="{4DDB767F-41B8-442D-8FD2-4BD902B8B362}"/>
              </a:ext>
            </a:extLst>
          </p:cNvPr>
          <p:cNvGraphicFramePr/>
          <p:nvPr/>
        </p:nvGraphicFramePr>
        <p:xfrm>
          <a:off xmlns:a="http://schemas.openxmlformats.org/drawingml/2006/main" x="685800" y="1762125"/>
          <a:ext xmlns:a="http://schemas.openxmlformats.org/drawingml/2006/main" cx="10287000" cy="2286000"/>
        </p:xfrm>
        <a:graphic xmlns:a="http://schemas.openxmlformats.org/drawingml/2006/main">
          <a:graphicData uri="http://schemas.openxmlformats.org/drawingml/2006/table">
            <a:tbl>
              <a:tblPr/>
              <a:tblGrid>
                <a:gridCol w="6238875"/>
                <a:gridCol w="4048125"/>
              </a:tblGrid>
              <a:tr h="571500">
                <a:tc>
                  <a:txBody>
                    <a:bodyPr/>
                    <a:lstStyle/>
                    <a:p>
                      <a:r>
                        <a:rPr sz="1800" b="1">
                          <a:solidFill>
                            <a:srgbClr val="FFFFFF"/>
                          </a:solidFill>
                          <a:latin typeface="DejaVu Sans"/>
                          <a:ea typeface="DejaVu Sans"/>
                          <a:cs typeface="DejaVu Sans"/>
                        </a:rPr>
                        <a:t>Live input</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c>
                  <a:txBody>
                    <a:bodyPr/>
                    <a:lstStyle/>
                    <a:p>
                      <a:r>
                        <a:rPr sz="1800" b="1">
                          <a:solidFill>
                            <a:srgbClr val="FFFFFF"/>
                          </a:solidFill>
                          <a:latin typeface="DejaVu Sans"/>
                          <a:ea typeface="DejaVu Sans"/>
                          <a:cs typeface="DejaVu Sans"/>
                        </a:rPr>
                        <a:t>Saved behavior</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3253D"/>
                    </a:solidFill>
                  </a:tcPr>
                </a:tc>
              </a:tr>
              <a:tr h="571500">
                <a:tc>
                  <a:txBody>
                    <a:bodyPr/>
                    <a:lstStyle/>
                    <a:p>
                      <a:r>
                        <a:rPr sz="1800" b="0">
                          <a:solidFill>
                            <a:srgbClr val="15283D"/>
                          </a:solidFill>
                          <a:latin typeface="DejaVu Sans"/>
                          <a:ea typeface="DejaVu Sans"/>
                          <a:cs typeface="DejaVu Sans"/>
                        </a:rPr>
                        <a:t>What is your company's stock price?</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human_review, no policy answer</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71500">
                <a:tc>
                  <a:txBody>
                    <a:bodyPr/>
                    <a:lstStyle/>
                    <a:p>
                      <a:r>
                        <a:rPr sz="1800" b="0">
                          <a:solidFill>
                            <a:srgbClr val="15283D"/>
                          </a:solidFill>
                          <a:latin typeface="DejaVu Sans"/>
                          <a:ea typeface="DejaVu Sans"/>
                          <a:cs typeface="DejaVu Sans"/>
                        </a:rPr>
                        <a:t>Arabic duplicate-charge message</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human_review, low confidence</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571500">
                <a:tc>
                  <a:txBody>
                    <a:bodyPr/>
                    <a:lstStyle/>
                    <a:p>
                      <a:r>
                        <a:rPr sz="1800" b="0">
                          <a:solidFill>
                            <a:srgbClr val="15283D"/>
                          </a:solidFill>
                          <a:latin typeface="DejaVu Sans"/>
                          <a:ea typeface="DejaVu Sans"/>
                          <a:cs typeface="DejaVu Sans"/>
                        </a:rPr>
                        <a:t>Mars orbital-period question</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a:lstStyle/>
                    <a:p>
                      <a:r>
                        <a:rPr sz="1800" b="0">
                          <a:solidFill>
                            <a:srgbClr val="15283D"/>
                          </a:solidFill>
                          <a:latin typeface="DejaVu Sans"/>
                          <a:ea typeface="DejaVu Sans"/>
                          <a:cs typeface="DejaVu Sans"/>
                        </a:rPr>
                        <a:t>False acceptance observed</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4C169C7-4B6D-4864-AEE1-8EB12395A9CA}"/>
              </a:ext>
            </a:extLst>
          </p:cNvPr>
          <p:cNvSpPr>
            <a:spLocks xmlns:a="http://schemas.openxmlformats.org/drawingml/2006/main" noGrp="1"/>
          </p:cNvSpPr>
          <p:nvPr/>
        </p:nvSpPr>
        <p:spPr>
          <a:xfrm xmlns:a="http://schemas.openxmlformats.org/drawingml/2006/main">
            <a:off x="685800" y="442912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D364A"/>
                </a:solidFill>
                <a:latin typeface="DejaVu Sans"/>
                <a:ea typeface="DejaVu Sans"/>
                <a:cs typeface="DejaVu Sans"/>
              </a:defRPr>
            </a:defPPr>
          </a:lstStyle>
          <a:p xmlns:a="http://schemas.openxmlformats.org/drawingml/2006/main">
            <a:pPr algn="l">
              <a:defRPr sz="2250" b="1">
                <a:solidFill>
                  <a:srgbClr val="BD364A"/>
                </a:solidFill>
                <a:latin typeface="DejaVu Sans"/>
                <a:ea typeface="DejaVu Sans"/>
                <a:cs typeface="DejaVu Sans"/>
              </a:defRPr>
            </a:pPr>
            <a:r>
              <a:rPr sz="2250" b="1">
                <a:solidFill>
                  <a:srgbClr val="BD364A"/>
                </a:solidFill>
                <a:latin typeface="DejaVu Sans"/>
                <a:ea typeface="DejaVu Sans"/>
                <a:cs typeface="DejaVu Sans"/>
              </a:rPr>
              <a:t>Frozen features with a trained LR head</a:t>
            </a:r>
          </a:p>
        </p:txBody>
      </p:sp>
      <p:sp>
        <p:nvSpPr>
          <p:cNvPr id="4" name="">
            <a:extLst xmlns:a="http://schemas.openxmlformats.org/drawingml/2006/main">
              <a:ext uri="{FF2B5EF4-FFF2-40B4-BE49-F238E27FC236}">
                <a16:creationId xmlns:a16="http://schemas.microsoft.com/office/drawing/2014/main" id="{57CAE361-EC3D-4F29-B5AB-2121BC2E362E}"/>
              </a:ext>
            </a:extLst>
          </p:cNvPr>
          <p:cNvSpPr>
            <a:spLocks xmlns:a="http://schemas.openxmlformats.org/drawingml/2006/main" noGrp="1"/>
          </p:cNvSpPr>
          <p:nvPr/>
        </p:nvSpPr>
        <p:spPr>
          <a:xfrm xmlns:a="http://schemas.openxmlformats.org/drawingml/2006/main">
            <a:off x="685800" y="5191125"/>
            <a:ext cx="108204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5283D"/>
                </a:solidFill>
                <a:latin typeface="DejaVu Sans"/>
                <a:ea typeface="DejaVu Sans"/>
                <a:cs typeface="DejaVu Sans"/>
              </a:defRPr>
            </a:defPPr>
          </a:lstStyle>
          <a:p xmlns:a="http://schemas.openxmlformats.org/drawingml/2006/main">
            <a:pPr algn="l">
              <a:defRPr sz="2025" b="0">
                <a:solidFill>
                  <a:srgbClr val="15283D"/>
                </a:solidFill>
                <a:latin typeface="DejaVu Sans"/>
                <a:ea typeface="DejaVu Sans"/>
                <a:cs typeface="DejaVu Sans"/>
              </a:defRPr>
            </a:pPr>
            <a:r>
              <a:rPr sz="2025" b="0">
                <a:solidFill>
                  <a:srgbClr val="15283D"/>
                </a:solidFill>
                <a:latin typeface="DejaVu Sans"/>
                <a:ea typeface="DejaVu Sans"/>
                <a:cs typeface="DejaVu Sans"/>
              </a:rPr>
              <a:t>Written adaptation justification documents the small-data decision.</a:t>
            </a:r>
          </a:p>
          <a:p xmlns:a="http://schemas.openxmlformats.org/drawingml/2006/main">
            <a:pPr algn="l">
              <a:defRPr sz="2025" b="0">
                <a:solidFill>
                  <a:srgbClr val="15283D"/>
                </a:solidFill>
                <a:latin typeface="DejaVu Sans"/>
                <a:ea typeface="DejaVu Sans"/>
                <a:cs typeface="DejaVu Sans"/>
              </a:defRPr>
            </a:pPr>
            <a:r>
              <a:rPr sz="2025" b="0">
                <a:solidFill>
                  <a:srgbClr val="15283D"/>
                </a:solidFill>
                <a:latin typeface="DejaVu Sans"/>
                <a:ea typeface="DejaVu Sans"/>
                <a:cs typeface="DejaVu Sans"/>
              </a:rPr>
              <a:t>Next: collect reviewed dialect examples and test encoder tuning</a:t>
            </a:r>
          </a:p>
          <a:p xmlns:a="http://schemas.openxmlformats.org/drawingml/2006/main">
            <a:pPr algn="l">
              <a:defRPr sz="2025" b="0">
                <a:solidFill>
                  <a:srgbClr val="15283D"/>
                </a:solidFill>
                <a:latin typeface="DejaVu Sans"/>
                <a:ea typeface="DejaVu Sans"/>
                <a:cs typeface="DejaVu Sans"/>
              </a:defRPr>
            </a:pPr>
            <a:r>
              <a:rPr sz="2025" b="0">
                <a:solidFill>
                  <a:srgbClr val="15283D"/>
                </a:solidFill>
                <a:latin typeface="DejaVu Sans"/>
                <a:ea typeface="DejaVu Sans"/>
                <a:cs typeface="DejaVu Sans"/>
              </a:rPr>
              <a:t>on a new independent evaluation set.</a:t>
            </a:r>
          </a:p>
        </p:txBody>
      </p:sp>
    </p:spTree>
    <p:extLst>
      <p:ext uri="{BB962C8B-B14F-4D97-AF65-F5344CB8AC3E}">
        <p14:creationId xmlns:p14="http://schemas.microsoft.com/office/powerpoint/2010/main" val="1232301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2026-10-14T21:43:34.7910000Z</dcterms:created>
  <dcterms:modified xsi:type="dcterms:W3CDTF">2026-10-14T21:43:34.7910000Z</dcterms:modified>
</coreProperties>
</file>